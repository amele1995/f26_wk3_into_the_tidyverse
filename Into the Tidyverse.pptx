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FA9AC-E8DB-445D-8E8A-98F67F5F4696}" v="1" dt="2026-10-25T23:00:33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4" y="6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Mele" userId="f438a86ece9c5515" providerId="LiveId" clId="{85E41429-C2C0-4240-BF03-AC415A708936}"/>
    <pc:docChg chg="undo custSel modSld">
      <pc:chgData name="Anna Mele" userId="f438a86ece9c5515" providerId="LiveId" clId="{85E41429-C2C0-4240-BF03-AC415A708936}" dt="2026-10-25T23:24:28.872" v="215" actId="20577"/>
      <pc:docMkLst>
        <pc:docMk/>
      </pc:docMkLst>
      <pc:sldChg chg="modSp mod">
        <pc:chgData name="Anna Mele" userId="f438a86ece9c5515" providerId="LiveId" clId="{85E41429-C2C0-4240-BF03-AC415A708936}" dt="2026-10-25T23:24:28.872" v="215" actId="20577"/>
        <pc:sldMkLst>
          <pc:docMk/>
          <pc:sldMk cId="0" sldId="259"/>
        </pc:sldMkLst>
        <pc:spChg chg="mod">
          <ac:chgData name="Anna Mele" userId="f438a86ece9c5515" providerId="LiveId" clId="{85E41429-C2C0-4240-BF03-AC415A708936}" dt="2026-10-25T23:24:28.872" v="215" actId="20577"/>
          <ac:spMkLst>
            <pc:docMk/>
            <pc:sldMk cId="0" sldId="259"/>
            <ac:spMk id="75" creationId="{00000000-0000-0000-0000-000000000000}"/>
          </ac:spMkLst>
        </pc:spChg>
      </pc:sldChg>
      <pc:sldChg chg="addSp modSp mod modNotes">
        <pc:chgData name="Anna Mele" userId="f438a86ece9c5515" providerId="LiveId" clId="{85E41429-C2C0-4240-BF03-AC415A708936}" dt="2026-10-25T23:14:18.128" v="159" actId="20577"/>
        <pc:sldMkLst>
          <pc:docMk/>
          <pc:sldMk cId="0" sldId="266"/>
        </pc:sldMkLst>
        <pc:spChg chg="add mod">
          <ac:chgData name="Anna Mele" userId="f438a86ece9c5515" providerId="LiveId" clId="{85E41429-C2C0-4240-BF03-AC415A708936}" dt="2026-10-25T23:14:18.128" v="159" actId="20577"/>
          <ac:spMkLst>
            <pc:docMk/>
            <pc:sldMk cId="0" sldId="266"/>
            <ac:spMk id="2" creationId="{0FCB879D-C176-D071-8270-E66E9A7A7D41}"/>
          </ac:spMkLst>
        </pc:spChg>
        <pc:spChg chg="mod">
          <ac:chgData name="Anna Mele" userId="f438a86ece9c5515" providerId="LiveId" clId="{85E41429-C2C0-4240-BF03-AC415A708936}" dt="2026-10-25T23:06:24.141" v="147" actId="20577"/>
          <ac:spMkLst>
            <pc:docMk/>
            <pc:sldMk cId="0" sldId="266"/>
            <ac:spMk id="133" creationId="{00000000-0000-0000-0000-000000000000}"/>
          </ac:spMkLst>
        </pc:spChg>
      </pc:sldChg>
      <pc:sldChg chg="modSp mod">
        <pc:chgData name="Anna Mele" userId="f438a86ece9c5515" providerId="LiveId" clId="{85E41429-C2C0-4240-BF03-AC415A708936}" dt="2026-10-25T23:22:42.880" v="212" actId="27636"/>
        <pc:sldMkLst>
          <pc:docMk/>
          <pc:sldMk cId="0" sldId="267"/>
        </pc:sldMkLst>
        <pc:spChg chg="mod">
          <ac:chgData name="Anna Mele" userId="f438a86ece9c5515" providerId="LiveId" clId="{85E41429-C2C0-4240-BF03-AC415A708936}" dt="2026-10-25T23:22:42.880" v="212" actId="27636"/>
          <ac:spMkLst>
            <pc:docMk/>
            <pc:sldMk cId="0" sldId="267"/>
            <ac:spMk id="14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b2e67bf23c6026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b2e67bf23c6026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5b2e67bf23c6026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5b2e67bf23c6026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5b2e67bf23c6026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5b2e67bf23c6026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b2e67bf23c6026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5b2e67bf23c6026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b2e67bf23c6026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5b2e67bf23c6026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5b2e67bf23c6026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5b2e67bf23c6026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5b2e67bf23c6026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5b2e67bf23c6026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5b2e67bf23c6026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5b2e67bf23c6026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5b2e67bf23c6026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5b2e67bf23c6026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5b2e67bf23c60261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5b2e67bf23c60261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5b2e67bf23c6026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5b2e67bf23c6026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ringr.tidyverse.org/reference/str_subset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hyperlink" Target="https://stringr.tidyverse.org/reference/str_replace.html" TargetMode="External"/><Relationship Id="rId4" Type="http://schemas.openxmlformats.org/officeDocument/2006/relationships/hyperlink" Target="https://stringr.tidyverse.org/reference/str_count.html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forcats.tidyverse.org/reference/fct_reorder.html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forcats.tidyverse.org/reference/fct_lump.html" TargetMode="External"/><Relationship Id="rId5" Type="http://schemas.openxmlformats.org/officeDocument/2006/relationships/hyperlink" Target="https://forcats.tidyverse.org/reference/fct_relevel.html" TargetMode="External"/><Relationship Id="rId4" Type="http://schemas.openxmlformats.org/officeDocument/2006/relationships/hyperlink" Target="https://forcats.tidyverse.org/reference/fct_inorder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ubridate.tidyverse.org/reference/ymd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1174801" y="3090900"/>
            <a:ext cx="2825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Into the Tidyverse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What is tidyverse? What does it do?</a:t>
            </a:r>
            <a:endParaRPr b="1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 package developed by Hadley Wickham and collaborators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Importing data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Tidying data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Manipulating data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Visualizing data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Tables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Programming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Uses consistent grammar and structure</a:t>
            </a:r>
            <a:endParaRPr dirty="0"/>
          </a:p>
        </p:txBody>
      </p:sp>
      <p:pic>
        <p:nvPicPr>
          <p:cNvPr id="62" name="Google Shape;62;p14" title="Screenshot 2026-10-19 111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3821100" cy="376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dplyr</a:t>
            </a:r>
            <a:endParaRPr b="1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75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manipulation and organization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Uses the pipe (%&gt;%) to chain together functions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mutate() to create new columns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select() to select columns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filter() to select rows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summarize() to find mean, median, etc.</a:t>
            </a:r>
            <a:endParaRPr dirty="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8125" y="1414863"/>
            <a:ext cx="4721976" cy="231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tibble</a:t>
            </a:r>
            <a:endParaRPr b="1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6283500" cy="3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Improved version of the classic dataframe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Does not change column names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col_names turned to x.col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Does not allow partial name matching with $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df$ban might return df$banana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Prints only the first 10 rows and displays column type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As opposed to the whole dataframe</a:t>
            </a:r>
            <a:endParaRPr sz="2000" dirty="0"/>
          </a:p>
          <a:p>
            <a:r>
              <a:rPr lang="en" dirty="0"/>
              <a:t>Creation of small tables or tribbles</a:t>
            </a:r>
            <a:endParaRPr dirty="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325" y="3179300"/>
            <a:ext cx="2513975" cy="18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6002" y="154925"/>
            <a:ext cx="1975499" cy="22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ggplot2</a:t>
            </a:r>
            <a:endParaRPr b="1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Aesthetics (colors and axes)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Plot types (scatter, box, histogram, etc.)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Scales (more colors)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Models (linear, quantile, etc.)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Labs (refine title, subtitle, axes names, labels and their angles, etc)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175" y="229600"/>
            <a:ext cx="1749448" cy="201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readr</a:t>
            </a:r>
            <a:endParaRPr b="1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3851" y="276750"/>
            <a:ext cx="1848450" cy="214237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1486175" y="1468550"/>
            <a:ext cx="2560200" cy="42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 file</a:t>
            </a:r>
            <a:endParaRPr/>
          </a:p>
        </p:txBody>
      </p:sp>
      <p:cxnSp>
        <p:nvCxnSpPr>
          <p:cNvPr id="92" name="Google Shape;92;p18"/>
          <p:cNvCxnSpPr>
            <a:stCxn id="91" idx="2"/>
          </p:cNvCxnSpPr>
          <p:nvPr/>
        </p:nvCxnSpPr>
        <p:spPr>
          <a:xfrm flipH="1">
            <a:off x="2760575" y="1893350"/>
            <a:ext cx="5700" cy="49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Google Shape;93;p18"/>
          <p:cNvSpPr/>
          <p:nvPr/>
        </p:nvSpPr>
        <p:spPr>
          <a:xfrm>
            <a:off x="1509125" y="2387025"/>
            <a:ext cx="2560200" cy="42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</a:t>
            </a:r>
            <a:endParaRPr/>
          </a:p>
        </p:txBody>
      </p:sp>
      <p:cxnSp>
        <p:nvCxnSpPr>
          <p:cNvPr id="94" name="Google Shape;94;p18"/>
          <p:cNvCxnSpPr>
            <a:stCxn id="93" idx="2"/>
          </p:cNvCxnSpPr>
          <p:nvPr/>
        </p:nvCxnSpPr>
        <p:spPr>
          <a:xfrm flipH="1">
            <a:off x="2783525" y="2811825"/>
            <a:ext cx="5700" cy="42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" name="Google Shape;95;p18"/>
          <p:cNvSpPr/>
          <p:nvPr/>
        </p:nvSpPr>
        <p:spPr>
          <a:xfrm>
            <a:off x="1549325" y="3236625"/>
            <a:ext cx="2479800" cy="42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tidy</a:t>
            </a:r>
            <a:endParaRPr/>
          </a:p>
        </p:txBody>
      </p:sp>
      <p:cxnSp>
        <p:nvCxnSpPr>
          <p:cNvPr id="96" name="Google Shape;96;p18"/>
          <p:cNvCxnSpPr>
            <a:stCxn id="95" idx="2"/>
          </p:cNvCxnSpPr>
          <p:nvPr/>
        </p:nvCxnSpPr>
        <p:spPr>
          <a:xfrm flipH="1">
            <a:off x="2783525" y="3661425"/>
            <a:ext cx="5700" cy="42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97;p18"/>
          <p:cNvSpPr/>
          <p:nvPr/>
        </p:nvSpPr>
        <p:spPr>
          <a:xfrm>
            <a:off x="1555050" y="4109175"/>
            <a:ext cx="2479800" cy="42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analyze/visualize</a:t>
            </a:r>
            <a:endParaRPr/>
          </a:p>
        </p:txBody>
      </p:sp>
      <p:cxnSp>
        <p:nvCxnSpPr>
          <p:cNvPr id="98" name="Google Shape;98;p18"/>
          <p:cNvCxnSpPr>
            <a:stCxn id="97" idx="3"/>
          </p:cNvCxnSpPr>
          <p:nvPr/>
        </p:nvCxnSpPr>
        <p:spPr>
          <a:xfrm>
            <a:off x="4034850" y="4321575"/>
            <a:ext cx="666000" cy="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" name="Google Shape;99;p18"/>
          <p:cNvSpPr/>
          <p:nvPr/>
        </p:nvSpPr>
        <p:spPr>
          <a:xfrm>
            <a:off x="4700850" y="4097700"/>
            <a:ext cx="1848600" cy="42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tidyr</a:t>
            </a:r>
            <a:endParaRPr b="1"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according to tidyverse: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variable is a column; each column is a variable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observation is a row; each row is an observation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value is a cell; each cell is a single value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Using functions pivot_longer(), pivot_wider(), and more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580" y="137750"/>
            <a:ext cx="1801724" cy="20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stringr</a:t>
            </a:r>
            <a:endParaRPr b="1"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078200"/>
            <a:ext cx="8520600" cy="41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Detects patterns in text, and then these texts can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Manipulated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ighlight>
                  <a:srgbClr val="F1F3F5"/>
                </a:highlight>
                <a:hlinkClick r:id="rId3"/>
              </a:rPr>
              <a:t>str_subset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(</a:t>
            </a:r>
            <a:r>
              <a:rPr lang="en">
                <a:solidFill>
                  <a:srgbClr val="111111"/>
                </a:solidFill>
                <a:highlight>
                  <a:srgbClr val="F1F3F5"/>
                </a:highlight>
              </a:rPr>
              <a:t>x</a:t>
            </a:r>
            <a:r>
              <a:rPr lang="en">
                <a:solidFill>
                  <a:srgbClr val="003B4F"/>
                </a:solidFill>
                <a:highlight>
                  <a:srgbClr val="F1F3F5"/>
                </a:highlight>
              </a:rPr>
              <a:t>, </a:t>
            </a:r>
            <a:r>
              <a:rPr lang="en">
                <a:solidFill>
                  <a:srgbClr val="20794D"/>
                </a:solidFill>
                <a:highlight>
                  <a:srgbClr val="F1F3F5"/>
                </a:highlight>
              </a:rPr>
              <a:t>"[aeiou]"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)</a:t>
            </a:r>
            <a:endParaRPr>
              <a:solidFill>
                <a:srgbClr val="003B4F"/>
              </a:solidFill>
              <a:highlight>
                <a:srgbClr val="F1F3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#&gt; [1] "video"     "cross"     "extra"     "deal"      "authority"</a:t>
            </a:r>
            <a:endParaRPr>
              <a:solidFill>
                <a:srgbClr val="003B4F"/>
              </a:solidFill>
              <a:highlight>
                <a:srgbClr val="F1F3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ighlight>
                  <a:srgbClr val="F1F3F5"/>
                </a:highlight>
                <a:hlinkClick r:id="rId4"/>
              </a:rPr>
              <a:t>str_count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(</a:t>
            </a:r>
            <a:r>
              <a:rPr lang="en">
                <a:solidFill>
                  <a:srgbClr val="111111"/>
                </a:solidFill>
                <a:highlight>
                  <a:srgbClr val="F1F3F5"/>
                </a:highlight>
              </a:rPr>
              <a:t>x</a:t>
            </a:r>
            <a:r>
              <a:rPr lang="en">
                <a:solidFill>
                  <a:srgbClr val="003B4F"/>
                </a:solidFill>
                <a:highlight>
                  <a:srgbClr val="F1F3F5"/>
                </a:highlight>
              </a:rPr>
              <a:t>, </a:t>
            </a:r>
            <a:r>
              <a:rPr lang="en">
                <a:solidFill>
                  <a:srgbClr val="20794D"/>
                </a:solidFill>
                <a:highlight>
                  <a:srgbClr val="F1F3F5"/>
                </a:highlight>
              </a:rPr>
              <a:t>"[aeiou]"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)</a:t>
            </a:r>
            <a:endParaRPr>
              <a:solidFill>
                <a:srgbClr val="003B4F"/>
              </a:solidFill>
              <a:highlight>
                <a:srgbClr val="F1F3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#&gt; [1] 3 1 2 2 4</a:t>
            </a:r>
            <a:endParaRPr>
              <a:solidFill>
                <a:srgbClr val="5E5E5E"/>
              </a:solidFill>
              <a:highlight>
                <a:srgbClr val="F1F3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ighlight>
                  <a:srgbClr val="F1F3F5"/>
                </a:highlight>
                <a:hlinkClick r:id="rId5"/>
              </a:rPr>
              <a:t>str_replace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(</a:t>
            </a:r>
            <a:r>
              <a:rPr lang="en">
                <a:solidFill>
                  <a:srgbClr val="111111"/>
                </a:solidFill>
                <a:highlight>
                  <a:srgbClr val="F1F3F5"/>
                </a:highlight>
              </a:rPr>
              <a:t>x</a:t>
            </a:r>
            <a:r>
              <a:rPr lang="en">
                <a:solidFill>
                  <a:srgbClr val="003B4F"/>
                </a:solidFill>
                <a:highlight>
                  <a:srgbClr val="F1F3F5"/>
                </a:highlight>
              </a:rPr>
              <a:t>, </a:t>
            </a:r>
            <a:r>
              <a:rPr lang="en">
                <a:solidFill>
                  <a:srgbClr val="20794D"/>
                </a:solidFill>
                <a:highlight>
                  <a:srgbClr val="F1F3F5"/>
                </a:highlight>
              </a:rPr>
              <a:t>"[aeiou]"</a:t>
            </a:r>
            <a:r>
              <a:rPr lang="en">
                <a:solidFill>
                  <a:srgbClr val="003B4F"/>
                </a:solidFill>
                <a:highlight>
                  <a:srgbClr val="F1F3F5"/>
                </a:highlight>
              </a:rPr>
              <a:t>, </a:t>
            </a:r>
            <a:r>
              <a:rPr lang="en">
                <a:solidFill>
                  <a:srgbClr val="20794D"/>
                </a:solidFill>
                <a:highlight>
                  <a:srgbClr val="F1F3F5"/>
                </a:highlight>
              </a:rPr>
              <a:t>"?"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)</a:t>
            </a:r>
            <a:endParaRPr>
              <a:solidFill>
                <a:srgbClr val="003B4F"/>
              </a:solidFill>
              <a:highlight>
                <a:srgbClr val="F1F3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#&gt; [1] "why"       "v?deo"     "cr?ss"     "?xtra"     "d?al"      "?uthority"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str_replace_all</a:t>
            </a:r>
            <a:r>
              <a:rPr lang="en">
                <a:solidFill>
                  <a:schemeClr val="dk1"/>
                </a:solidFill>
              </a:rPr>
              <a:t>("_", " ")  </a:t>
            </a:r>
            <a:r>
              <a:rPr lang="en">
                <a:solidFill>
                  <a:srgbClr val="818898"/>
                </a:solidFill>
              </a:rPr>
              <a:t># underscores -&gt; spaces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5E5E5E"/>
              </a:solidFill>
              <a:highlight>
                <a:srgbClr val="F1F3F5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1150" y="127399"/>
            <a:ext cx="2035950" cy="234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forcats</a:t>
            </a:r>
            <a:endParaRPr b="1"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1" y="1152474"/>
            <a:ext cx="4563387" cy="38276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factor in R is an categorical variable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Forcats uses: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2E3A45"/>
              </a:buClr>
              <a:buSzPts val="1800"/>
              <a:buChar char="●"/>
            </a:pPr>
            <a:r>
              <a:rPr lang="en" u="sng" dirty="0">
                <a:solidFill>
                  <a:schemeClr val="hlink"/>
                </a:solidFill>
                <a:highlight>
                  <a:srgbClr val="FCFCFC"/>
                </a:highlight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fct_reorder()</a:t>
            </a:r>
            <a:r>
              <a:rPr lang="en" dirty="0">
                <a:solidFill>
                  <a:srgbClr val="2E3A45"/>
                </a:solidFill>
                <a:highlight>
                  <a:srgbClr val="FCFCFC"/>
                </a:highlight>
              </a:rPr>
              <a:t>: Reordering a factor by another variable.</a:t>
            </a:r>
            <a:endParaRPr dirty="0">
              <a:solidFill>
                <a:srgbClr val="2E3A45"/>
              </a:solidFill>
              <a:highlight>
                <a:srgbClr val="FCFCFC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800"/>
              <a:buChar char="●"/>
            </a:pPr>
            <a:r>
              <a:rPr lang="en" u="sng" dirty="0">
                <a:solidFill>
                  <a:schemeClr val="hlink"/>
                </a:solidFill>
                <a:highlight>
                  <a:srgbClr val="FCFCFC"/>
                </a:highlight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fct_infreq()</a:t>
            </a:r>
            <a:r>
              <a:rPr lang="en" dirty="0">
                <a:solidFill>
                  <a:srgbClr val="2E3A45"/>
                </a:solidFill>
                <a:highlight>
                  <a:srgbClr val="FCFCFC"/>
                </a:highlight>
              </a:rPr>
              <a:t>: Reordering a factor by the frequency of values.</a:t>
            </a:r>
            <a:endParaRPr dirty="0">
              <a:solidFill>
                <a:srgbClr val="2E3A45"/>
              </a:solidFill>
              <a:highlight>
                <a:srgbClr val="FCFCFC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800"/>
              <a:buChar char="●"/>
            </a:pPr>
            <a:r>
              <a:rPr lang="en" u="sng" dirty="0">
                <a:solidFill>
                  <a:schemeClr val="hlink"/>
                </a:solidFill>
                <a:highlight>
                  <a:srgbClr val="FCFCFC"/>
                </a:highlight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fct_relevel()</a:t>
            </a:r>
            <a:r>
              <a:rPr lang="en" dirty="0">
                <a:solidFill>
                  <a:srgbClr val="2E3A45"/>
                </a:solidFill>
                <a:highlight>
                  <a:srgbClr val="FCFCFC"/>
                </a:highlight>
              </a:rPr>
              <a:t>: Changing the order of a factor by hand.</a:t>
            </a:r>
            <a:endParaRPr dirty="0">
              <a:solidFill>
                <a:srgbClr val="2E3A45"/>
              </a:solidFill>
              <a:highlight>
                <a:srgbClr val="FCFCFC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800"/>
              <a:buChar char="●"/>
            </a:pPr>
            <a:r>
              <a:rPr lang="en" u="sng" dirty="0">
                <a:solidFill>
                  <a:schemeClr val="hlink"/>
                </a:solidFill>
                <a:highlight>
                  <a:srgbClr val="FCFCFC"/>
                </a:highlight>
                <a:latin typeface="Roboto Mono"/>
                <a:ea typeface="Roboto Mono"/>
                <a:cs typeface="Roboto Mono"/>
                <a:sym typeface="Roboto Mono"/>
                <a:hlinkClick r:id="rId6"/>
              </a:rPr>
              <a:t>fct_lump()</a:t>
            </a:r>
            <a:r>
              <a:rPr lang="en" dirty="0">
                <a:solidFill>
                  <a:srgbClr val="2E3A45"/>
                </a:solidFill>
                <a:highlight>
                  <a:srgbClr val="FCFCFC"/>
                </a:highlight>
              </a:rPr>
              <a:t>: Collapsing the least/most frequent values of a factor into “other”.</a:t>
            </a:r>
            <a:endParaRPr dirty="0">
              <a:solidFill>
                <a:srgbClr val="2E3A45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76499" y="163345"/>
            <a:ext cx="1690599" cy="1937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The image displays a line graph illustrating the proportion of different marital statuses (Never married, Married, Widowed) across various age groups (20, 40, 60, 80 years old).&#10;&#10;AI-generated content may be incorrect.">
            <a:extLst>
              <a:ext uri="{FF2B5EF4-FFF2-40B4-BE49-F238E27FC236}">
                <a16:creationId xmlns:a16="http://schemas.microsoft.com/office/drawing/2014/main" id="{093F96DC-4027-0D3C-09BC-52AEC89EEF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5088" y="2132865"/>
            <a:ext cx="4154580" cy="2847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2FDBD9-9C79-3A49-2A9F-B8E7228ADF60}"/>
              </a:ext>
            </a:extLst>
          </p:cNvPr>
          <p:cNvSpPr txBox="1"/>
          <p:nvPr/>
        </p:nvSpPr>
        <p:spPr>
          <a:xfrm>
            <a:off x="6509442" y="4861711"/>
            <a:ext cx="2357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Programming 101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lubridate</a:t>
            </a:r>
            <a:endParaRPr b="1"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Makes dealing with dates in R more streamlined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ighlight>
                  <a:srgbClr val="F1F3F5"/>
                </a:highlight>
                <a:hlinkClick r:id="rId3"/>
              </a:rPr>
              <a:t>ymd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(</a:t>
            </a:r>
            <a:r>
              <a:rPr lang="en">
                <a:solidFill>
                  <a:srgbClr val="AD0000"/>
                </a:solidFill>
                <a:highlight>
                  <a:srgbClr val="F1F3F5"/>
                </a:highlight>
              </a:rPr>
              <a:t>20101215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)</a:t>
            </a:r>
            <a:endParaRPr>
              <a:solidFill>
                <a:srgbClr val="003B4F"/>
              </a:solidFill>
              <a:highlight>
                <a:srgbClr val="F1F3F5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#&gt; [1] "2010-12-15"</a:t>
            </a:r>
            <a:endParaRPr>
              <a:solidFill>
                <a:srgbClr val="003B4F"/>
              </a:solidFill>
              <a:highlight>
                <a:srgbClr val="F1F3F5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ighlight>
                  <a:srgbClr val="F1F3F5"/>
                </a:highlight>
                <a:hlinkClick r:id="rId3"/>
              </a:rPr>
              <a:t>mdy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(</a:t>
            </a:r>
            <a:r>
              <a:rPr lang="en">
                <a:solidFill>
                  <a:srgbClr val="20794D"/>
                </a:solidFill>
                <a:highlight>
                  <a:srgbClr val="F1F3F5"/>
                </a:highlight>
              </a:rPr>
              <a:t>"4/1/17"</a:t>
            </a: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)</a:t>
            </a:r>
            <a:endParaRPr>
              <a:solidFill>
                <a:srgbClr val="003B4F"/>
              </a:solidFill>
              <a:highlight>
                <a:srgbClr val="F1F3F5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E5E5E"/>
                </a:solidFill>
                <a:highlight>
                  <a:srgbClr val="F1F3F5"/>
                </a:highlight>
              </a:rPr>
              <a:t>#&gt; [1] "2017-04-01"</a:t>
            </a:r>
            <a:endParaRPr>
              <a:solidFill>
                <a:srgbClr val="5E5E5E"/>
              </a:solidFill>
              <a:highlight>
                <a:srgbClr val="F1F3F5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1129" y="219255"/>
            <a:ext cx="2048209" cy="236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purrr</a:t>
            </a:r>
            <a:endParaRPr b="1"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606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Allows you to convert the data type of a list and vectors(for ex: integer to character)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Can apply functions to lists and vectors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Can apply to one or more lists and vectors</a:t>
            </a:r>
            <a:endParaRPr dirty="0"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351" y="332050"/>
            <a:ext cx="2183800" cy="25309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3;p23">
            <a:extLst>
              <a:ext uri="{FF2B5EF4-FFF2-40B4-BE49-F238E27FC236}">
                <a16:creationId xmlns:a16="http://schemas.microsoft.com/office/drawing/2014/main" id="{0FCB879D-C176-D071-8270-E66E9A7A7D41}"/>
              </a:ext>
            </a:extLst>
          </p:cNvPr>
          <p:cNvSpPr txBox="1">
            <a:spLocks/>
          </p:cNvSpPr>
          <p:nvPr/>
        </p:nvSpPr>
        <p:spPr>
          <a:xfrm>
            <a:off x="4924338" y="2571750"/>
            <a:ext cx="3785813" cy="2442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 err="1"/>
              <a:t>map_df</a:t>
            </a:r>
            <a:r>
              <a:rPr lang="en-US" dirty="0"/>
              <a:t>(</a:t>
            </a:r>
            <a:r>
              <a:rPr lang="en-US" dirty="0" err="1"/>
              <a:t>as.character</a:t>
            </a:r>
            <a:r>
              <a:rPr lang="en-US" dirty="0"/>
              <a:t>)</a:t>
            </a:r>
          </a:p>
          <a:p>
            <a:pPr marL="0" indent="0">
              <a:buFont typeface="Arial"/>
              <a:buNone/>
            </a:pPr>
            <a:r>
              <a:rPr lang="en-US" dirty="0" err="1"/>
              <a:t>map_dbl</a:t>
            </a:r>
            <a:r>
              <a:rPr lang="en-US" dirty="0"/>
              <a:t>(1:5, sqrt)</a:t>
            </a:r>
          </a:p>
          <a:p>
            <a:pPr marL="0" indent="0">
              <a:buFont typeface="Arial"/>
              <a:buNone/>
            </a:pPr>
            <a:endParaRPr lang="en-US" dirty="0"/>
          </a:p>
          <a:p>
            <a:pPr marL="0" indent="0">
              <a:buFont typeface="Arial"/>
              <a:buNone/>
            </a:pPr>
            <a:r>
              <a:rPr lang="en-US" dirty="0" err="1"/>
              <a:t>map_df</a:t>
            </a:r>
            <a:r>
              <a:rPr lang="en-US" dirty="0"/>
              <a:t>(</a:t>
            </a:r>
            <a:r>
              <a:rPr lang="en-US" dirty="0" err="1"/>
              <a:t>min_to_sec</a:t>
            </a:r>
            <a:r>
              <a:rPr lang="en-US" dirty="0"/>
              <a:t>)</a:t>
            </a:r>
          </a:p>
          <a:p>
            <a:pPr marL="0" indent="0">
              <a:buFont typeface="Arial"/>
              <a:buNone/>
            </a:pPr>
            <a:r>
              <a:rPr lang="en-US" dirty="0" err="1"/>
              <a:t>map_df</a:t>
            </a:r>
            <a:r>
              <a:rPr lang="en-US" dirty="0"/>
              <a:t>(function(x) x * 60)</a:t>
            </a:r>
          </a:p>
          <a:p>
            <a:pPr marL="0" indent="0">
              <a:buFont typeface="Arial"/>
              <a:buNone/>
            </a:pPr>
            <a:endParaRPr lang="en-US" dirty="0"/>
          </a:p>
          <a:p>
            <a:pPr marL="0" indent="0">
              <a:buFont typeface="Arial"/>
              <a:buNone/>
            </a:pPr>
            <a:r>
              <a:rPr lang="en-US" dirty="0"/>
              <a:t>map2()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Today’s tutorial</a:t>
            </a:r>
            <a:endParaRPr b="1"/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755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We’ll be going over: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dplyr - data manipulation and organization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ggplot2 - data visualization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tidyr - data tidying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readr - importing data into 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</a:t>
            </a:r>
            <a:r>
              <a:rPr lang="en" dirty="0"/>
              <a:t>tringr – selecting data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f</a:t>
            </a:r>
            <a:r>
              <a:rPr lang="en" dirty="0"/>
              <a:t>orcats – reordering data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tibble</a:t>
            </a:r>
            <a:r>
              <a:rPr lang="en-US" dirty="0"/>
              <a:t> – tiny table tribble</a:t>
            </a:r>
            <a:endParaRPr lang="en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Big thanks to R for Data Science</a:t>
            </a:r>
            <a:endParaRPr dirty="0"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523" y="680525"/>
            <a:ext cx="3286602" cy="4085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579</Words>
  <Application>Microsoft Office PowerPoint</Application>
  <PresentationFormat>On-screen Show (16:9)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Roboto Mono</vt:lpstr>
      <vt:lpstr>Simple Light</vt:lpstr>
      <vt:lpstr>Into the Tidyverse</vt:lpstr>
      <vt:lpstr>What is tidyverse? What does it do?</vt:lpstr>
      <vt:lpstr>dplyr</vt:lpstr>
      <vt:lpstr>tibble</vt:lpstr>
      <vt:lpstr>ggplot2</vt:lpstr>
      <vt:lpstr>readr</vt:lpstr>
      <vt:lpstr>tidyr</vt:lpstr>
      <vt:lpstr>stringr</vt:lpstr>
      <vt:lpstr>forcats</vt:lpstr>
      <vt:lpstr>lubridate</vt:lpstr>
      <vt:lpstr>purrr</vt:lpstr>
      <vt:lpstr>Today’s tutorial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Anna Mele</dc:creator>
  <cp:lastModifiedBy>Anna Mele</cp:lastModifiedBy>
  <cp:revision>1</cp:revision>
  <dcterms:modified xsi:type="dcterms:W3CDTF">2026-10-25T23:24:36Z</dcterms:modified>
</cp:coreProperties>
</file>